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8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89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33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463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10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84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1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88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8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588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805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745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820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672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964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396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9702E-965E-4F0A-A586-0A4623B1E984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EA2C3-733B-4E23-B74F-3BCC860DE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1082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009F-47A5-2736-2271-1BF8C2934B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Failing Human Heart Vs Non-Failing Human Heart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E7D4F-341F-582D-DF09-0E91D3BEB1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Emmanuel Ogbu</a:t>
            </a:r>
          </a:p>
        </p:txBody>
      </p:sp>
    </p:spTree>
    <p:extLst>
      <p:ext uri="{BB962C8B-B14F-4D97-AF65-F5344CB8AC3E}">
        <p14:creationId xmlns:p14="http://schemas.microsoft.com/office/powerpoint/2010/main" val="3776034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6D24-4ED7-A99C-D559-6F76512F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this project about?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84DF-E614-6F29-1002-BDF5EA96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How does gene expression differ between non-failing and failing human hearts, and how do these changes vary by heart chamber (especially LA and LV)?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165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F993-AD5B-72C7-1984-6BD2F91E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9FE3-7F53-CD1D-0C26-D786C0EC7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Disease: </a:t>
            </a:r>
            <a:r>
              <a:rPr lang="en-US" altLang="en-US" b="1" dirty="0" err="1">
                <a:latin typeface="Arial" panose="020B0604020202020204" pitchFamily="34" charset="0"/>
              </a:rPr>
              <a:t>HFrEF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Comparison: </a:t>
            </a:r>
            <a:r>
              <a:rPr lang="en-US" altLang="en-US" b="1" dirty="0">
                <a:latin typeface="Arial" panose="020B0604020202020204" pitchFamily="34" charset="0"/>
              </a:rPr>
              <a:t>Non-failing vs </a:t>
            </a:r>
            <a:r>
              <a:rPr lang="en-US" altLang="en-US" b="1" dirty="0" err="1">
                <a:latin typeface="Arial" panose="020B0604020202020204" pitchFamily="34" charset="0"/>
              </a:rPr>
              <a:t>HFrEF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Tissue: </a:t>
            </a:r>
            <a:r>
              <a:rPr lang="en-US" altLang="en-US" b="1" dirty="0">
                <a:latin typeface="Arial" panose="020B0604020202020204" pitchFamily="34" charset="0"/>
              </a:rPr>
              <a:t>Left atrium (LA) &amp; left ventricle (LV)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Outcome: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Differential gene expression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Pathway dysregulation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Cell-type composition changes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130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D1C4-FBAB-264C-6287-694FE754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Study Design: “four chambers of non-failing (NF) and </a:t>
            </a:r>
            <a:r>
              <a:rPr lang="en-GB" dirty="0" err="1"/>
              <a:t>HFrEF</a:t>
            </a:r>
            <a:r>
              <a:rPr lang="en-GB" dirty="0"/>
              <a:t> human hearts”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4C80E5-FA67-CAF3-CB57-73B566A82D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274487"/>
            <a:ext cx="1084765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Subset samples: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NF vs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HFrEF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first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LV only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(smart &amp; manageable)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metadata table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ID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 (NF /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HFrEF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Chamber (LA / LV)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99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6C96-47FC-8E0B-3075-14F5DB4E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Differential Expression Expectations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8548C-ED38-BDE7-E9CF-BC6F49F99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“Expression analysis of </a:t>
            </a:r>
            <a:r>
              <a:rPr lang="en-GB" dirty="0" err="1"/>
              <a:t>HFrEF</a:t>
            </a:r>
            <a:r>
              <a:rPr lang="en-GB" dirty="0"/>
              <a:t> tissues revealed extensive disease-associated transcriptional alterations in LA and LV”</a:t>
            </a:r>
          </a:p>
          <a:p>
            <a:pPr marL="0" indent="0">
              <a:buNone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 </a:t>
            </a:r>
            <a:r>
              <a:rPr lang="en-US" altLang="en-US" b="1" dirty="0">
                <a:latin typeface="Arial" panose="020B0604020202020204" pitchFamily="34" charset="0"/>
              </a:rPr>
              <a:t>DESeq2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Contrast: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 Unicode MS"/>
              </a:rPr>
              <a:t>HFrEF_LV vs NF_LV</a:t>
            </a: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Output: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log2FoldChange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adjusted p-values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significant DEGs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64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6E1E4-9D8B-8B5E-FE6B-746CF25E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Pathway &amp; functional analysis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0FC69-823F-715F-DF81-226904DD4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“mitochondrial dysfunction, cardiac hypertrophy and fibrosis”</a:t>
            </a:r>
          </a:p>
          <a:p>
            <a:pPr marL="0" indent="0">
              <a:buNone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Run: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GO enrichment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latin typeface="Arial" panose="020B0604020202020204" pitchFamily="34" charset="0"/>
              </a:rPr>
              <a:t>Reactome</a:t>
            </a:r>
            <a:r>
              <a:rPr lang="en-US" altLang="en-US" sz="2400" dirty="0">
                <a:latin typeface="Arial" panose="020B0604020202020204" pitchFamily="34" charset="0"/>
              </a:rPr>
              <a:t> / KEGG pathways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Specifically look for: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Mitochondrial processes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ECM / fibrosis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Hypertrophy </a:t>
            </a:r>
            <a:r>
              <a:rPr lang="en-US" altLang="en-US" sz="2400" dirty="0" err="1">
                <a:latin typeface="Arial" panose="020B0604020202020204" pitchFamily="34" charset="0"/>
              </a:rPr>
              <a:t>signalling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408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2F28-C5E0-9373-DA1B-89F58103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LV-specific pathology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0A3D9-AEE9-C78A-F2D7-0AECB44FD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“Oxidative stress and cardiac necrosis pathways were prominent within LV”</a:t>
            </a:r>
          </a:p>
          <a:p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Highlight </a:t>
            </a:r>
            <a:r>
              <a:rPr lang="en-US" altLang="en-US" b="1" dirty="0">
                <a:latin typeface="Arial" panose="020B0604020202020204" pitchFamily="34" charset="0"/>
              </a:rPr>
              <a:t>LV-specific enriched pathways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Make: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Dot plot / bar plot of enriched terms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Interpret: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Why LV is more affected in </a:t>
            </a:r>
            <a:r>
              <a:rPr lang="en-US" altLang="en-US" sz="2400" dirty="0" err="1">
                <a:latin typeface="Arial" panose="020B0604020202020204" pitchFamily="34" charset="0"/>
              </a:rPr>
              <a:t>HFrEF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670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4321-2C16-295D-EC4D-FEC69C6D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Cell-type composition (advanced but impressive)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9D67F-DC8B-394B-D659-985B68256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“Cell type composition was estimated by deconvolution”</a:t>
            </a:r>
          </a:p>
          <a:p>
            <a:endParaRPr lang="en-GB" dirty="0"/>
          </a:p>
          <a:p>
            <a:r>
              <a:rPr lang="en-GB" dirty="0"/>
              <a:t>Use </a:t>
            </a:r>
            <a:r>
              <a:rPr lang="en-GB" b="1" dirty="0" err="1"/>
              <a:t>CIBERSORTx</a:t>
            </a:r>
            <a:r>
              <a:rPr lang="en-GB" b="1" dirty="0"/>
              <a:t> / </a:t>
            </a:r>
            <a:r>
              <a:rPr lang="en-GB" b="1" dirty="0" err="1"/>
              <a:t>MuSiC</a:t>
            </a:r>
            <a:r>
              <a:rPr lang="en-GB" b="1" dirty="0"/>
              <a:t> / Bisque</a:t>
            </a:r>
            <a:endParaRPr lang="en-GB" dirty="0"/>
          </a:p>
          <a:p>
            <a:r>
              <a:rPr lang="en-GB" dirty="0"/>
              <a:t>Estimate:</a:t>
            </a:r>
          </a:p>
          <a:p>
            <a:pPr lvl="1"/>
            <a:r>
              <a:rPr lang="en-GB" dirty="0"/>
              <a:t>Cardiomyocytes</a:t>
            </a:r>
          </a:p>
          <a:p>
            <a:pPr lvl="1"/>
            <a:r>
              <a:rPr lang="en-GB" dirty="0"/>
              <a:t>Fibroblasts</a:t>
            </a:r>
          </a:p>
          <a:p>
            <a:pPr lvl="1"/>
            <a:r>
              <a:rPr lang="en-GB" dirty="0"/>
              <a:t>Perivascular cells</a:t>
            </a:r>
          </a:p>
          <a:p>
            <a:r>
              <a:rPr lang="en-GB" dirty="0"/>
              <a:t>Compare proportions:</a:t>
            </a:r>
          </a:p>
          <a:p>
            <a:pPr lvl="1"/>
            <a:r>
              <a:rPr lang="en-GB" dirty="0"/>
              <a:t>NF vs </a:t>
            </a:r>
            <a:r>
              <a:rPr lang="en-GB" dirty="0" err="1"/>
              <a:t>HFrEF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852552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21</TotalTime>
  <Words>269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Unicode MS</vt:lpstr>
      <vt:lpstr>Trebuchet MS</vt:lpstr>
      <vt:lpstr>Berlin</vt:lpstr>
      <vt:lpstr>Failing Human Heart Vs Non-Failing Human Heart</vt:lpstr>
      <vt:lpstr>What is this project about?</vt:lpstr>
      <vt:lpstr>Key Focus</vt:lpstr>
      <vt:lpstr>Study Design: “four chambers of non-failing (NF) and HFrEF human hearts”</vt:lpstr>
      <vt:lpstr>Differential Expression Expectations</vt:lpstr>
      <vt:lpstr>Pathway &amp; functional analysis </vt:lpstr>
      <vt:lpstr>LV-specific pathology</vt:lpstr>
      <vt:lpstr>Cell-type composition (advanced but impressive)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emmanuel.ogbu@outlook.com</dc:creator>
  <cp:lastModifiedBy>emmanuel.ogbu@outlook.com</cp:lastModifiedBy>
  <cp:revision>1</cp:revision>
  <dcterms:created xsi:type="dcterms:W3CDTF">2026-02-02T17:43:38Z</dcterms:created>
  <dcterms:modified xsi:type="dcterms:W3CDTF">2026-02-02T18:05:11Z</dcterms:modified>
</cp:coreProperties>
</file>